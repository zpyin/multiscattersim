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69" r:id="rId5"/>
    <p:sldId id="261" r:id="rId6"/>
    <p:sldId id="262" r:id="rId7"/>
    <p:sldId id="270" r:id="rId8"/>
    <p:sldId id="264" r:id="rId9"/>
    <p:sldId id="265" r:id="rId10"/>
    <p:sldId id="266" r:id="rId11"/>
    <p:sldId id="267" r:id="rId12"/>
    <p:sldId id="272" r:id="rId13"/>
    <p:sldId id="271" r:id="rId14"/>
    <p:sldId id="257" r:id="rId15"/>
    <p:sldId id="276" r:id="rId16"/>
    <p:sldId id="275" r:id="rId17"/>
    <p:sldId id="263" r:id="rId18"/>
    <p:sldId id="273" r:id="rId19"/>
    <p:sldId id="274" r:id="rId20"/>
    <p:sldId id="277" r:id="rId21"/>
    <p:sldId id="278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8" d="100"/>
          <a:sy n="148" d="100"/>
        </p:scale>
        <p:origin x="73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3708B5-7C94-5956-7613-AF641421F4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6716A5-DDB4-ACA3-8DF9-DEF594D3F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0DF27B-5A73-44AD-B874-91F8524E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8F987-8ACB-4675-9B89-07918054E195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372F0C-BA4E-0B69-70F9-08C6C0868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275A47-576A-CE1C-0282-40D71FAE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8717D-E684-477E-BDCE-A36A208235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7965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9FB154-D173-E332-4174-00DAAD7A0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AA98DB-FCD2-07F5-48C5-ABC32CDC0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DDE973-EDBD-E943-920A-BDD9C517F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8F987-8ACB-4675-9B89-07918054E195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593CC2-909C-02F0-E322-433F09A3A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19A981-8853-EFA1-C168-0AAFFDFB1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8717D-E684-477E-BDCE-A36A208235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774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360A2C-095F-E1C7-F538-0E348025D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65D71A-F10D-AB0C-AFCE-DCEF5C99F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F7BA52-006E-8DBC-80BD-3FB1D8B71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8F987-8ACB-4675-9B89-07918054E195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B3AFB0-C8EC-66B5-AE77-FE8AA51A4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7AE3C6-0BBF-B927-2917-7EB88B2EE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8717D-E684-477E-BDCE-A36A208235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417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49AA44-FBC7-BF10-FB68-9F6FF332B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EBFD13-258D-3923-70C5-6AD52D50CB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041910-E871-4388-B2E8-7DF877A13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00CD46-8E07-1052-02CE-690166A48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8F987-8ACB-4675-9B89-07918054E195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700CB2-EF21-BB58-C802-92CB2C353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DDF33C-A61B-CA6C-F666-A9185D275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8717D-E684-477E-BDCE-A36A208235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0341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DC09C7-BB31-E61A-0D92-DDFE8885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8A03DC-7D68-E0F8-A340-512F71678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838F4A-B32B-F794-3682-C900ECB72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4E7F85-5967-ADB8-3018-DA99A147F8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403026B-9B7C-2862-0536-0644A6803D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D7CCB83-80CC-CE34-DF57-B57C77E4D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8F987-8ACB-4675-9B89-07918054E195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65E040C-EC71-C5C9-10CE-EEB9C92CB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D312C58-F033-87F5-78F9-7941EDF04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8717D-E684-477E-BDCE-A36A208235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778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93ABDA-2F0B-8290-A250-347AF94BC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7923455-0E16-539B-EC15-561BAB6A1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8F987-8ACB-4675-9B89-07918054E195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AD603C9-118B-98E8-4011-75E2FC688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6EB7E13-8EB0-0C73-65F2-7BA8FF688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8717D-E684-477E-BDCE-A36A208235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621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33FFD48-D3EF-D12B-F13D-6240B7155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8F987-8ACB-4675-9B89-07918054E195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AE36CE5-EAAF-6EFE-4AC2-ACE1BF6A1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8182B9-0AEB-4473-36AB-22DDC657C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8717D-E684-477E-BDCE-A36A208235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846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029A1F-7056-6AB2-E6B3-412CB2BF7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FE60D6-8AFA-AE2A-5253-00E07E72E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E9A77E-5327-3019-2291-BC1F8507B2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301232-B97F-69A0-FE93-292E327D3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8F987-8ACB-4675-9B89-07918054E195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58E077-23FA-4DAF-C796-69645AF69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BF5419-92C2-3382-DF0C-45C275A19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8717D-E684-477E-BDCE-A36A208235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118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9906FC-B94B-7951-07AF-6687F8A23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5B84BC5-DAB1-4710-2AAD-FE7AA24695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C1A4C8-CAE2-19D8-2EEA-023BDF4C2E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482818-009B-C549-FF51-9B8FB2B39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8F987-8ACB-4675-9B89-07918054E195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1B1FB2-4A65-B9E3-8603-6B449DEE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B74CD1-F381-F512-A212-3CA0684F5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8717D-E684-477E-BDCE-A36A208235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143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3D013F-0D74-CCDF-2B37-3D7870FE7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50C7B8-AC52-91FB-6F7B-4C8248F741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F93409-5063-FD04-9137-BA5C6F7C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8F987-8ACB-4675-9B89-07918054E195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42FA96-DDED-53E9-9EE4-E3CF558FD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B9F202-C8AB-557F-7EAF-DD750DFDE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8717D-E684-477E-BDCE-A36A208235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279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4A3B019-EB28-517B-AB87-CC7859E8EF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A19895-4425-4E7E-A25C-D6A905C71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C0933C-6DB9-5360-C4DA-511283645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8F987-8ACB-4675-9B89-07918054E195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6DFAE3-4811-2CA7-871A-07B4C4F31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6B742C-6748-E08C-EE5C-C7EB76E49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8717D-E684-477E-BDCE-A36A208235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29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3D9B3D0-A417-08D4-724C-446247260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7C0AE0-8EE0-A9A0-07F0-8CA1A99B2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4388E2-D5E1-1A1A-6564-F4D427DFBD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8F987-8ACB-4675-9B89-07918054E195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0650A2-F143-B72A-7EFE-598294ACDE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AC1007-A8AA-6BFA-9141-A087934FA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8717D-E684-477E-BDCE-A36A208235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421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11" Type="http://schemas.openxmlformats.org/officeDocument/2006/relationships/image" Target="../media/image15.png"/><Relationship Id="rId5" Type="http://schemas.openxmlformats.org/officeDocument/2006/relationships/image" Target="../media/image17.png"/><Relationship Id="rId10" Type="http://schemas.openxmlformats.org/officeDocument/2006/relationships/image" Target="../media/image20.png"/><Relationship Id="rId4" Type="http://schemas.openxmlformats.org/officeDocument/2006/relationships/image" Target="../media/image12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11" Type="http://schemas.openxmlformats.org/officeDocument/2006/relationships/image" Target="../media/image27.png"/><Relationship Id="rId5" Type="http://schemas.openxmlformats.org/officeDocument/2006/relationships/image" Target="../media/image9.png"/><Relationship Id="rId10" Type="http://schemas.openxmlformats.org/officeDocument/2006/relationships/image" Target="../media/image26.png"/><Relationship Id="rId4" Type="http://schemas.openxmlformats.org/officeDocument/2006/relationships/image" Target="../media/image8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4.png"/><Relationship Id="rId7" Type="http://schemas.openxmlformats.org/officeDocument/2006/relationships/image" Target="../media/image2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32.png"/><Relationship Id="rId4" Type="http://schemas.openxmlformats.org/officeDocument/2006/relationships/image" Target="../media/image29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1.png"/><Relationship Id="rId7" Type="http://schemas.openxmlformats.org/officeDocument/2006/relationships/image" Target="../media/image2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25.png"/><Relationship Id="rId4" Type="http://schemas.openxmlformats.org/officeDocument/2006/relationships/image" Target="../media/image30.pn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3835C1-EC11-7492-CBD3-781F76BC8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7839" y="-104775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Polarimetry by single water droplet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BD66891-CA3D-8047-7FCC-4B33B35E7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776" y="1329024"/>
            <a:ext cx="3619048" cy="4580952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329D82F2-F6D7-1E1B-2CDC-F7043F143BE6}"/>
              </a:ext>
            </a:extLst>
          </p:cNvPr>
          <p:cNvSpPr txBox="1"/>
          <p:nvPr/>
        </p:nvSpPr>
        <p:spPr>
          <a:xfrm>
            <a:off x="6445476" y="5907643"/>
            <a:ext cx="58544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Very complex structure at near-backscatter angles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Strong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depol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. component with high sensitivity to particle size and scattering angles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Mie scattering - Wikipedia">
            <a:extLst>
              <a:ext uri="{FF2B5EF4-FFF2-40B4-BE49-F238E27FC236}">
                <a16:creationId xmlns:a16="http://schemas.microsoft.com/office/drawing/2014/main" id="{908A71F1-3084-7B16-477F-4ECF6E363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7075" y="1553355"/>
            <a:ext cx="2381250" cy="225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Lorenz-Mie scattering phase functions (in logarithmic scale) showing... |  Download Scientific Diagram">
            <a:extLst>
              <a:ext uri="{FF2B5EF4-FFF2-40B4-BE49-F238E27FC236}">
                <a16:creationId xmlns:a16="http://schemas.microsoft.com/office/drawing/2014/main" id="{BA8C775F-69FC-CF5E-9D85-BE061867E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" y="4175932"/>
            <a:ext cx="5578475" cy="1883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1AFD5736-1746-7900-C38F-B2CB5D299D6B}"/>
              </a:ext>
            </a:extLst>
          </p:cNvPr>
          <p:cNvSpPr txBox="1"/>
          <p:nvPr/>
        </p:nvSpPr>
        <p:spPr>
          <a:xfrm>
            <a:off x="1638542" y="6184642"/>
            <a:ext cx="3243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incident wavelength = 473 nm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86ECA52-B733-EE09-AD5B-46954C5B0DA0}"/>
              </a:ext>
            </a:extLst>
          </p:cNvPr>
          <p:cNvSpPr txBox="1"/>
          <p:nvPr/>
        </p:nvSpPr>
        <p:spPr>
          <a:xfrm>
            <a:off x="6813776" y="1017740"/>
            <a:ext cx="3813865" cy="369332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Zoom-in at near-backscatter angles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0A399DD-69E7-D29C-1BE3-A0C028692039}"/>
              </a:ext>
            </a:extLst>
          </p:cNvPr>
          <p:cNvSpPr txBox="1"/>
          <p:nvPr/>
        </p:nvSpPr>
        <p:spPr>
          <a:xfrm>
            <a:off x="836698" y="1034032"/>
            <a:ext cx="4839786" cy="36933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Scattering by spheric particle (Mie Scattering)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507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1F94DE1A-5DD0-C275-0C48-DDF5A4205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6441" y="2246151"/>
            <a:ext cx="3038497" cy="374811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23835C1-EC11-7492-CBD3-781F76BC8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Polarimetry by single water droplet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1D103E2D-BCB2-2EA0-4610-62A7FCACBE1C}"/>
              </a:ext>
            </a:extLst>
          </p:cNvPr>
          <p:cNvGrpSpPr/>
          <p:nvPr/>
        </p:nvGrpSpPr>
        <p:grpSpPr>
          <a:xfrm>
            <a:off x="1234676" y="2466298"/>
            <a:ext cx="2924579" cy="3292241"/>
            <a:chOff x="4896462" y="1878129"/>
            <a:chExt cx="2924579" cy="3292241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400053E1-34E0-AACD-BC3C-4B843E4945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96462" y="1878129"/>
              <a:ext cx="2924579" cy="3292241"/>
            </a:xfrm>
            <a:prstGeom prst="rect">
              <a:avLst/>
            </a:prstGeom>
          </p:spPr>
        </p:pic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81CF2FB7-5D67-668B-1E70-FE7A2E62BAFB}"/>
                </a:ext>
              </a:extLst>
            </p:cNvPr>
            <p:cNvSpPr/>
            <p:nvPr/>
          </p:nvSpPr>
          <p:spPr>
            <a:xfrm>
              <a:off x="6464301" y="2393950"/>
              <a:ext cx="69850" cy="6985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96CA55B-8FE9-2A9E-BF12-E37CEE79EBBB}"/>
                </a:ext>
              </a:extLst>
            </p:cNvPr>
            <p:cNvGrpSpPr/>
            <p:nvPr/>
          </p:nvGrpSpPr>
          <p:grpSpPr>
            <a:xfrm>
              <a:off x="6191532" y="4248151"/>
              <a:ext cx="615389" cy="85725"/>
              <a:chOff x="6191532" y="4248151"/>
              <a:chExt cx="615389" cy="85725"/>
            </a:xfrm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8049E00A-B998-50F0-8478-EC47E0FB7CBF}"/>
                  </a:ext>
                </a:extLst>
              </p:cNvPr>
              <p:cNvSpPr/>
              <p:nvPr/>
            </p:nvSpPr>
            <p:spPr>
              <a:xfrm>
                <a:off x="6191532" y="4260851"/>
                <a:ext cx="609039" cy="73025"/>
              </a:xfrm>
              <a:custGeom>
                <a:avLst/>
                <a:gdLst>
                  <a:gd name="connsiteX0" fmla="*/ 0 w 609039"/>
                  <a:gd name="connsiteY0" fmla="*/ 0 h 73025"/>
                  <a:gd name="connsiteX1" fmla="*/ 609039 w 609039"/>
                  <a:gd name="connsiteY1" fmla="*/ 0 h 73025"/>
                  <a:gd name="connsiteX2" fmla="*/ 575171 w 609039"/>
                  <a:gd name="connsiteY2" fmla="*/ 18383 h 73025"/>
                  <a:gd name="connsiteX3" fmla="*/ 304519 w 609039"/>
                  <a:gd name="connsiteY3" fmla="*/ 73025 h 73025"/>
                  <a:gd name="connsiteX4" fmla="*/ 33868 w 609039"/>
                  <a:gd name="connsiteY4" fmla="*/ 18383 h 73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9039" h="73025">
                    <a:moveTo>
                      <a:pt x="0" y="0"/>
                    </a:moveTo>
                    <a:lnTo>
                      <a:pt x="609039" y="0"/>
                    </a:lnTo>
                    <a:lnTo>
                      <a:pt x="575171" y="18383"/>
                    </a:lnTo>
                    <a:cubicBezTo>
                      <a:pt x="491983" y="53568"/>
                      <a:pt x="400523" y="73025"/>
                      <a:pt x="304519" y="73025"/>
                    </a:cubicBezTo>
                    <a:cubicBezTo>
                      <a:pt x="208515" y="73025"/>
                      <a:pt x="117055" y="53568"/>
                      <a:pt x="33868" y="18383"/>
                    </a:cubicBezTo>
                    <a:close/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C38AB412-D02D-6FC5-9307-C1AF49EF6833}"/>
                  </a:ext>
                </a:extLst>
              </p:cNvPr>
              <p:cNvSpPr/>
              <p:nvPr/>
            </p:nvSpPr>
            <p:spPr>
              <a:xfrm>
                <a:off x="6197882" y="4248151"/>
                <a:ext cx="609039" cy="73025"/>
              </a:xfrm>
              <a:custGeom>
                <a:avLst/>
                <a:gdLst>
                  <a:gd name="connsiteX0" fmla="*/ 0 w 609039"/>
                  <a:gd name="connsiteY0" fmla="*/ 0 h 73025"/>
                  <a:gd name="connsiteX1" fmla="*/ 609039 w 609039"/>
                  <a:gd name="connsiteY1" fmla="*/ 0 h 73025"/>
                  <a:gd name="connsiteX2" fmla="*/ 575171 w 609039"/>
                  <a:gd name="connsiteY2" fmla="*/ 18383 h 73025"/>
                  <a:gd name="connsiteX3" fmla="*/ 304519 w 609039"/>
                  <a:gd name="connsiteY3" fmla="*/ 73025 h 73025"/>
                  <a:gd name="connsiteX4" fmla="*/ 33868 w 609039"/>
                  <a:gd name="connsiteY4" fmla="*/ 18383 h 73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9039" h="73025">
                    <a:moveTo>
                      <a:pt x="0" y="0"/>
                    </a:moveTo>
                    <a:lnTo>
                      <a:pt x="609039" y="0"/>
                    </a:lnTo>
                    <a:lnTo>
                      <a:pt x="575171" y="18383"/>
                    </a:lnTo>
                    <a:cubicBezTo>
                      <a:pt x="491983" y="53568"/>
                      <a:pt x="400523" y="73025"/>
                      <a:pt x="304519" y="73025"/>
                    </a:cubicBezTo>
                    <a:cubicBezTo>
                      <a:pt x="208515" y="73025"/>
                      <a:pt x="117055" y="53568"/>
                      <a:pt x="33868" y="1838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2B7690FE-C435-4D7D-9BEA-051018A719C7}"/>
                </a:ext>
              </a:extLst>
            </p:cNvPr>
            <p:cNvCxnSpPr>
              <a:cxnSpLocks/>
            </p:cNvCxnSpPr>
            <p:nvPr/>
          </p:nvCxnSpPr>
          <p:spPr>
            <a:xfrm>
              <a:off x="6502401" y="2200275"/>
              <a:ext cx="0" cy="245745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A32FD025-EDC7-EEF6-C299-C6A1A40CF815}"/>
                </a:ext>
              </a:extLst>
            </p:cNvPr>
            <p:cNvCxnSpPr>
              <a:cxnSpLocks/>
              <a:stCxn id="7" idx="4"/>
              <a:endCxn id="10" idx="0"/>
            </p:cNvCxnSpPr>
            <p:nvPr/>
          </p:nvCxnSpPr>
          <p:spPr>
            <a:xfrm flipH="1">
              <a:off x="6191532" y="2463800"/>
              <a:ext cx="307694" cy="179705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7C948AF4-1984-1734-A7AA-9497E3847AAE}"/>
                </a:ext>
              </a:extLst>
            </p:cNvPr>
            <p:cNvCxnSpPr>
              <a:cxnSpLocks/>
              <a:stCxn id="7" idx="4"/>
              <a:endCxn id="10" idx="1"/>
            </p:cNvCxnSpPr>
            <p:nvPr/>
          </p:nvCxnSpPr>
          <p:spPr>
            <a:xfrm>
              <a:off x="6499226" y="2463800"/>
              <a:ext cx="301345" cy="179705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弧形 22">
              <a:extLst>
                <a:ext uri="{FF2B5EF4-FFF2-40B4-BE49-F238E27FC236}">
                  <a16:creationId xmlns:a16="http://schemas.microsoft.com/office/drawing/2014/main" id="{DF633D99-32D0-84F1-0381-98A07AAB77F0}"/>
                </a:ext>
              </a:extLst>
            </p:cNvPr>
            <p:cNvSpPr/>
            <p:nvPr/>
          </p:nvSpPr>
          <p:spPr>
            <a:xfrm rot="6181645">
              <a:off x="6244611" y="2174040"/>
              <a:ext cx="516106" cy="653326"/>
            </a:xfrm>
            <a:prstGeom prst="arc">
              <a:avLst>
                <a:gd name="adj1" fmla="val 20113934"/>
                <a:gd name="adj2" fmla="val 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331BD4E1-7F39-D05B-8091-DAA852D08E5C}"/>
                </a:ext>
              </a:extLst>
            </p:cNvPr>
            <p:cNvSpPr txBox="1"/>
            <p:nvPr/>
          </p:nvSpPr>
          <p:spPr>
            <a:xfrm>
              <a:off x="6331971" y="2751944"/>
              <a:ext cx="369012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FOV</a:t>
              </a:r>
              <a:endParaRPr lang="zh-CN" altLang="en-US" sz="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23C7E1EC-E6B1-A813-31CD-3CB49FE425A8}"/>
                </a:ext>
              </a:extLst>
            </p:cNvPr>
            <p:cNvSpPr txBox="1"/>
            <p:nvPr/>
          </p:nvSpPr>
          <p:spPr>
            <a:xfrm>
              <a:off x="6496051" y="4299068"/>
              <a:ext cx="7889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latin typeface="Arial" panose="020B0604020202020204" pitchFamily="34" charset="0"/>
                  <a:cs typeface="Arial" panose="020B0604020202020204" pitchFamily="34" charset="0"/>
                </a:rPr>
                <a:t>telescope</a:t>
              </a:r>
              <a:endParaRPr lang="zh-CN" alt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63DB8776-414E-D45F-09E8-7295B45F5BCC}"/>
                </a:ext>
              </a:extLst>
            </p:cNvPr>
            <p:cNvSpPr txBox="1"/>
            <p:nvPr/>
          </p:nvSpPr>
          <p:spPr>
            <a:xfrm>
              <a:off x="6474485" y="2263532"/>
              <a:ext cx="62388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droplet</a:t>
              </a:r>
              <a:endParaRPr lang="zh-CN" altLang="en-US" sz="11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6B9631-A6BC-8BFD-2071-FC9752CCB503}"/>
              </a:ext>
            </a:extLst>
          </p:cNvPr>
          <p:cNvSpPr txBox="1"/>
          <p:nvPr/>
        </p:nvSpPr>
        <p:spPr>
          <a:xfrm>
            <a:off x="953959" y="1839792"/>
            <a:ext cx="3877985" cy="36933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Lidar receiving geometry with height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13BA1A7-1277-E2FA-1893-DA05C3E854BA}"/>
              </a:ext>
            </a:extLst>
          </p:cNvPr>
          <p:cNvSpPr txBox="1"/>
          <p:nvPr/>
        </p:nvSpPr>
        <p:spPr>
          <a:xfrm>
            <a:off x="2846888" y="5041176"/>
            <a:ext cx="9076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>
                <a:latin typeface="Arial" panose="020B0604020202020204" pitchFamily="34" charset="0"/>
                <a:cs typeface="Arial" panose="020B0604020202020204" pitchFamily="34" charset="0"/>
              </a:rPr>
              <a:t>D=200 mm</a:t>
            </a:r>
            <a:endParaRPr lang="zh-CN" alt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947F5EF-D5B0-0461-1BCF-8F700F8226C0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2306740" y="2747011"/>
            <a:ext cx="223006" cy="2102009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D4751523-4040-53B0-7D55-F4C7CA432E42}"/>
              </a:ext>
            </a:extLst>
          </p:cNvPr>
          <p:cNvCxnSpPr>
            <a:cxnSpLocks/>
          </p:cNvCxnSpPr>
          <p:nvPr/>
        </p:nvCxnSpPr>
        <p:spPr>
          <a:xfrm flipV="1">
            <a:off x="3149174" y="2747011"/>
            <a:ext cx="223006" cy="2102009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>
            <a:extLst>
              <a:ext uri="{FF2B5EF4-FFF2-40B4-BE49-F238E27FC236}">
                <a16:creationId xmlns:a16="http://schemas.microsoft.com/office/drawing/2014/main" id="{B6FA07F0-39DB-A60F-F86D-F86D6B72F7F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09" r="1"/>
          <a:stretch/>
        </p:blipFill>
        <p:spPr>
          <a:xfrm>
            <a:off x="5994373" y="2312180"/>
            <a:ext cx="3072122" cy="3673205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06EA31A4-6714-31C6-CC40-E0FB96CF5324}"/>
              </a:ext>
            </a:extLst>
          </p:cNvPr>
          <p:cNvSpPr txBox="1"/>
          <p:nvPr/>
        </p:nvSpPr>
        <p:spPr>
          <a:xfrm>
            <a:off x="6783274" y="1897982"/>
            <a:ext cx="1494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r=250 um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7750BB3-EA50-79DF-0F88-672C27E4DA73}"/>
              </a:ext>
            </a:extLst>
          </p:cNvPr>
          <p:cNvSpPr txBox="1"/>
          <p:nvPr/>
        </p:nvSpPr>
        <p:spPr>
          <a:xfrm>
            <a:off x="9293081" y="1732647"/>
            <a:ext cx="2738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assume rain droplet with the same size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B9F8B0E-016C-1204-814F-416DA886D585}"/>
              </a:ext>
            </a:extLst>
          </p:cNvPr>
          <p:cNvSpPr txBox="1"/>
          <p:nvPr/>
        </p:nvSpPr>
        <p:spPr>
          <a:xfrm rot="5400000">
            <a:off x="11634630" y="3964116"/>
            <a:ext cx="495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altLang="zh-CN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00EAC9-A55F-E7DB-DA4D-A488715272F5}"/>
              </a:ext>
            </a:extLst>
          </p:cNvPr>
          <p:cNvSpPr txBox="1"/>
          <p:nvPr/>
        </p:nvSpPr>
        <p:spPr>
          <a:xfrm>
            <a:off x="9532449" y="2621082"/>
            <a:ext cx="27383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depolarization ratio </a:t>
            </a:r>
          </a:p>
          <a:p>
            <a:r>
              <a:rPr lang="en-US" altLang="zh-CN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 355 nm</a:t>
            </a:r>
            <a:endParaRPr lang="zh-CN" alt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5919B86-B3F1-52BB-EDFC-B75FE4D221DA}"/>
              </a:ext>
            </a:extLst>
          </p:cNvPr>
          <p:cNvSpPr txBox="1"/>
          <p:nvPr/>
        </p:nvSpPr>
        <p:spPr>
          <a:xfrm>
            <a:off x="6786624" y="5934593"/>
            <a:ext cx="51667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altLang="zh-CN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zh-CN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enhancement at lower height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peak value of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altLang="zh-CN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fluctuates with particle size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peak value height not sensitive to particle size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0DE4D2-44CA-C6A0-6133-B433531C576F}"/>
              </a:ext>
            </a:extLst>
          </p:cNvPr>
          <p:cNvSpPr txBox="1"/>
          <p:nvPr/>
        </p:nvSpPr>
        <p:spPr>
          <a:xfrm>
            <a:off x="-6382" y="6538627"/>
            <a:ext cx="4108817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Mind the constrain of field of view of the telescope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744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44B1949-5F8F-6224-8D0F-4DD0647E38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9" r="1"/>
          <a:stretch/>
        </p:blipFill>
        <p:spPr>
          <a:xfrm>
            <a:off x="2730471" y="860556"/>
            <a:ext cx="2160000" cy="258261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7AF69B3-F031-5DC2-8F4B-AE43887727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9" r="1"/>
          <a:stretch/>
        </p:blipFill>
        <p:spPr>
          <a:xfrm>
            <a:off x="5088988" y="860556"/>
            <a:ext cx="2160000" cy="258809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39D0A334-53AF-7DBE-E3FE-4084F9AA5814}"/>
              </a:ext>
            </a:extLst>
          </p:cNvPr>
          <p:cNvSpPr txBox="1"/>
          <p:nvPr/>
        </p:nvSpPr>
        <p:spPr>
          <a:xfrm>
            <a:off x="889000" y="431800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r=125 um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928F25C-A36E-E52A-847B-7682965F419F}"/>
              </a:ext>
            </a:extLst>
          </p:cNvPr>
          <p:cNvSpPr txBox="1"/>
          <p:nvPr/>
        </p:nvSpPr>
        <p:spPr>
          <a:xfrm>
            <a:off x="3176304" y="431800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r=250 um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8275AD-6DCD-E5CC-0762-D7CE89BAF4B4}"/>
              </a:ext>
            </a:extLst>
          </p:cNvPr>
          <p:cNvSpPr txBox="1"/>
          <p:nvPr/>
        </p:nvSpPr>
        <p:spPr>
          <a:xfrm>
            <a:off x="5542498" y="431800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r=500 um</a:t>
            </a:r>
            <a:endParaRPr lang="zh-CN" altLang="en-US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0431E7C5-2906-F31A-ED21-2265840053F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09" r="1"/>
          <a:stretch/>
        </p:blipFill>
        <p:spPr>
          <a:xfrm>
            <a:off x="7447505" y="860556"/>
            <a:ext cx="2160000" cy="2642807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09578E20-1E5D-823B-8544-A48DDFBF24CE}"/>
              </a:ext>
            </a:extLst>
          </p:cNvPr>
          <p:cNvSpPr txBox="1"/>
          <p:nvPr/>
        </p:nvSpPr>
        <p:spPr>
          <a:xfrm>
            <a:off x="7908692" y="431800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r=1000 um</a:t>
            </a:r>
            <a:endParaRPr lang="zh-CN" altLang="en-US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9E9D7B69-88A3-EA71-DD3C-ECDF5DF29F6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766"/>
          <a:stretch/>
        </p:blipFill>
        <p:spPr>
          <a:xfrm>
            <a:off x="9806023" y="860556"/>
            <a:ext cx="2160000" cy="2616605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7829F5FB-A967-9DF9-5784-60A805D09C44}"/>
              </a:ext>
            </a:extLst>
          </p:cNvPr>
          <p:cNvSpPr txBox="1"/>
          <p:nvPr/>
        </p:nvSpPr>
        <p:spPr>
          <a:xfrm>
            <a:off x="10347632" y="520924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r=2000 um</a:t>
            </a:r>
            <a:endParaRPr lang="zh-CN" altLang="en-US" dirty="0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A4104C93-B355-4B49-71C4-B57E935B33C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629"/>
          <a:stretch/>
        </p:blipFill>
        <p:spPr>
          <a:xfrm>
            <a:off x="371954" y="860556"/>
            <a:ext cx="2160000" cy="258002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34D03EC-1092-D382-42F5-97A9B78242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660" y="3579455"/>
            <a:ext cx="2160000" cy="269485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7525AE3-FFE5-C435-6454-4ABE0364B7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0869" y="3579455"/>
            <a:ext cx="2160000" cy="264187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50B4499-EF92-A9A7-BF2B-A836D61295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9078" y="3579455"/>
            <a:ext cx="2160000" cy="262721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DA9D825-E17A-B04E-5917-088332A4704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77288" y="3579455"/>
            <a:ext cx="2160000" cy="264075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22640D6-63EE-3A88-4211-7C6BD749F10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35498" y="3579455"/>
            <a:ext cx="2160000" cy="268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42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39D0A334-53AF-7DBE-E3FE-4084F9AA5814}"/>
              </a:ext>
            </a:extLst>
          </p:cNvPr>
          <p:cNvSpPr txBox="1"/>
          <p:nvPr/>
        </p:nvSpPr>
        <p:spPr>
          <a:xfrm>
            <a:off x="889000" y="431800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r=125 um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928F25C-A36E-E52A-847B-7682965F419F}"/>
              </a:ext>
            </a:extLst>
          </p:cNvPr>
          <p:cNvSpPr txBox="1"/>
          <p:nvPr/>
        </p:nvSpPr>
        <p:spPr>
          <a:xfrm>
            <a:off x="3176304" y="431800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r=250 um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8275AD-6DCD-E5CC-0762-D7CE89BAF4B4}"/>
              </a:ext>
            </a:extLst>
          </p:cNvPr>
          <p:cNvSpPr txBox="1"/>
          <p:nvPr/>
        </p:nvSpPr>
        <p:spPr>
          <a:xfrm>
            <a:off x="5542498" y="431800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r=500 um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9578E20-1E5D-823B-8544-A48DDFBF24CE}"/>
              </a:ext>
            </a:extLst>
          </p:cNvPr>
          <p:cNvSpPr txBox="1"/>
          <p:nvPr/>
        </p:nvSpPr>
        <p:spPr>
          <a:xfrm>
            <a:off x="7908692" y="431800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r=1000 um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829F5FB-A967-9DF9-5784-60A805D09C44}"/>
              </a:ext>
            </a:extLst>
          </p:cNvPr>
          <p:cNvSpPr txBox="1"/>
          <p:nvPr/>
        </p:nvSpPr>
        <p:spPr>
          <a:xfrm>
            <a:off x="10347632" y="520924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r=2000 um</a:t>
            </a:r>
            <a:endParaRPr lang="zh-CN" altLang="en-US" dirty="0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9D5F4815-D8D0-E23E-3A31-620DF633E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60" y="3579455"/>
            <a:ext cx="2160000" cy="269485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F230883-2C5C-69E3-2305-45C2620F0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51" y="849934"/>
            <a:ext cx="2160000" cy="251278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73A2628-8515-DF98-23B4-25D7807D8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5521" y="3579455"/>
            <a:ext cx="2160000" cy="264187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0500BDF-64BB-B0C8-8195-A0FF5C857A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0240" y="849934"/>
            <a:ext cx="2160000" cy="249506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EE7852F-B5EA-9955-1F9B-2A8374FB9C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8629" y="849934"/>
            <a:ext cx="2326656" cy="251278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DEA1615C-BFA9-524E-B3B3-69F17C7FB0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2833" y="3579455"/>
            <a:ext cx="2160000" cy="262721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9EFB0FCC-331E-506C-FBF9-ED04C4FB9A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7018" y="849934"/>
            <a:ext cx="2160000" cy="2482192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D49DAE8D-2950-F7D0-7A84-DC9D146A08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65408" y="3579455"/>
            <a:ext cx="2160000" cy="2640752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CFD01A79-76E4-5264-A2F0-55636A1EDCC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5408" y="849934"/>
            <a:ext cx="2160000" cy="2490811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4339BFBB-A2E0-ED76-8E1B-CAFD1AD5E8A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35498" y="3579455"/>
            <a:ext cx="2160000" cy="268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368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C929EC4-78C9-BA05-64CA-2A79693B7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4028" y="1958732"/>
            <a:ext cx="2829596" cy="346084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8CEF328-1BDF-7961-00C7-6B86F4059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998" y="2015257"/>
            <a:ext cx="2738326" cy="3347796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B1A6AEE6-8ADD-65E3-CAC4-E62F8AB9E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724" y="2335358"/>
            <a:ext cx="2923200" cy="344425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23835C1-EC11-7492-CBD3-781F76BC8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Polarimetry by single water droplet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1D103E2D-BCB2-2EA0-4610-62A7FCACBE1C}"/>
              </a:ext>
            </a:extLst>
          </p:cNvPr>
          <p:cNvGrpSpPr/>
          <p:nvPr/>
        </p:nvGrpSpPr>
        <p:grpSpPr>
          <a:xfrm>
            <a:off x="2121263" y="2788444"/>
            <a:ext cx="1502001" cy="2457450"/>
            <a:chOff x="5783049" y="2200275"/>
            <a:chExt cx="1502001" cy="2457450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96CA55B-8FE9-2A9E-BF12-E37CEE79EBBB}"/>
                </a:ext>
              </a:extLst>
            </p:cNvPr>
            <p:cNvGrpSpPr/>
            <p:nvPr/>
          </p:nvGrpSpPr>
          <p:grpSpPr>
            <a:xfrm>
              <a:off x="6191532" y="4248151"/>
              <a:ext cx="615389" cy="85725"/>
              <a:chOff x="6191532" y="4248151"/>
              <a:chExt cx="615389" cy="85725"/>
            </a:xfrm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8049E00A-B998-50F0-8478-EC47E0FB7CBF}"/>
                  </a:ext>
                </a:extLst>
              </p:cNvPr>
              <p:cNvSpPr/>
              <p:nvPr/>
            </p:nvSpPr>
            <p:spPr>
              <a:xfrm>
                <a:off x="6191532" y="4260851"/>
                <a:ext cx="609039" cy="73025"/>
              </a:xfrm>
              <a:custGeom>
                <a:avLst/>
                <a:gdLst>
                  <a:gd name="connsiteX0" fmla="*/ 0 w 609039"/>
                  <a:gd name="connsiteY0" fmla="*/ 0 h 73025"/>
                  <a:gd name="connsiteX1" fmla="*/ 609039 w 609039"/>
                  <a:gd name="connsiteY1" fmla="*/ 0 h 73025"/>
                  <a:gd name="connsiteX2" fmla="*/ 575171 w 609039"/>
                  <a:gd name="connsiteY2" fmla="*/ 18383 h 73025"/>
                  <a:gd name="connsiteX3" fmla="*/ 304519 w 609039"/>
                  <a:gd name="connsiteY3" fmla="*/ 73025 h 73025"/>
                  <a:gd name="connsiteX4" fmla="*/ 33868 w 609039"/>
                  <a:gd name="connsiteY4" fmla="*/ 18383 h 73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9039" h="73025">
                    <a:moveTo>
                      <a:pt x="0" y="0"/>
                    </a:moveTo>
                    <a:lnTo>
                      <a:pt x="609039" y="0"/>
                    </a:lnTo>
                    <a:lnTo>
                      <a:pt x="575171" y="18383"/>
                    </a:lnTo>
                    <a:cubicBezTo>
                      <a:pt x="491983" y="53568"/>
                      <a:pt x="400523" y="73025"/>
                      <a:pt x="304519" y="73025"/>
                    </a:cubicBezTo>
                    <a:cubicBezTo>
                      <a:pt x="208515" y="73025"/>
                      <a:pt x="117055" y="53568"/>
                      <a:pt x="33868" y="18383"/>
                    </a:cubicBezTo>
                    <a:close/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C38AB412-D02D-6FC5-9307-C1AF49EF6833}"/>
                  </a:ext>
                </a:extLst>
              </p:cNvPr>
              <p:cNvSpPr/>
              <p:nvPr/>
            </p:nvSpPr>
            <p:spPr>
              <a:xfrm>
                <a:off x="6197882" y="4248151"/>
                <a:ext cx="609039" cy="73025"/>
              </a:xfrm>
              <a:custGeom>
                <a:avLst/>
                <a:gdLst>
                  <a:gd name="connsiteX0" fmla="*/ 0 w 609039"/>
                  <a:gd name="connsiteY0" fmla="*/ 0 h 73025"/>
                  <a:gd name="connsiteX1" fmla="*/ 609039 w 609039"/>
                  <a:gd name="connsiteY1" fmla="*/ 0 h 73025"/>
                  <a:gd name="connsiteX2" fmla="*/ 575171 w 609039"/>
                  <a:gd name="connsiteY2" fmla="*/ 18383 h 73025"/>
                  <a:gd name="connsiteX3" fmla="*/ 304519 w 609039"/>
                  <a:gd name="connsiteY3" fmla="*/ 73025 h 73025"/>
                  <a:gd name="connsiteX4" fmla="*/ 33868 w 609039"/>
                  <a:gd name="connsiteY4" fmla="*/ 18383 h 73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9039" h="73025">
                    <a:moveTo>
                      <a:pt x="0" y="0"/>
                    </a:moveTo>
                    <a:lnTo>
                      <a:pt x="609039" y="0"/>
                    </a:lnTo>
                    <a:lnTo>
                      <a:pt x="575171" y="18383"/>
                    </a:lnTo>
                    <a:cubicBezTo>
                      <a:pt x="491983" y="53568"/>
                      <a:pt x="400523" y="73025"/>
                      <a:pt x="304519" y="73025"/>
                    </a:cubicBezTo>
                    <a:cubicBezTo>
                      <a:pt x="208515" y="73025"/>
                      <a:pt x="117055" y="53568"/>
                      <a:pt x="33868" y="1838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2B7690FE-C435-4D7D-9BEA-051018A719C7}"/>
                </a:ext>
              </a:extLst>
            </p:cNvPr>
            <p:cNvCxnSpPr>
              <a:cxnSpLocks/>
            </p:cNvCxnSpPr>
            <p:nvPr/>
          </p:nvCxnSpPr>
          <p:spPr>
            <a:xfrm>
              <a:off x="6502401" y="2200275"/>
              <a:ext cx="0" cy="245745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弧形 22">
              <a:extLst>
                <a:ext uri="{FF2B5EF4-FFF2-40B4-BE49-F238E27FC236}">
                  <a16:creationId xmlns:a16="http://schemas.microsoft.com/office/drawing/2014/main" id="{DF633D99-32D0-84F1-0381-98A07AAB77F0}"/>
                </a:ext>
              </a:extLst>
            </p:cNvPr>
            <p:cNvSpPr/>
            <p:nvPr/>
          </p:nvSpPr>
          <p:spPr>
            <a:xfrm rot="5400000">
              <a:off x="5851659" y="2184790"/>
              <a:ext cx="516106" cy="653326"/>
            </a:xfrm>
            <a:prstGeom prst="arc">
              <a:avLst>
                <a:gd name="adj1" fmla="val 20113934"/>
                <a:gd name="adj2" fmla="val 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331BD4E1-7F39-D05B-8091-DAA852D08E5C}"/>
                </a:ext>
              </a:extLst>
            </p:cNvPr>
            <p:cNvSpPr txBox="1"/>
            <p:nvPr/>
          </p:nvSpPr>
          <p:spPr>
            <a:xfrm>
              <a:off x="6026322" y="2861094"/>
              <a:ext cx="369012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700" b="1" dirty="0">
                  <a:latin typeface="Arial" panose="020B0604020202020204" pitchFamily="34" charset="0"/>
                  <a:cs typeface="Arial" panose="020B0604020202020204" pitchFamily="34" charset="0"/>
                </a:rPr>
                <a:t>FOV</a:t>
              </a:r>
              <a:endParaRPr lang="zh-CN" altLang="en-US" sz="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23C7E1EC-E6B1-A813-31CD-3CB49FE425A8}"/>
                </a:ext>
              </a:extLst>
            </p:cNvPr>
            <p:cNvSpPr txBox="1"/>
            <p:nvPr/>
          </p:nvSpPr>
          <p:spPr>
            <a:xfrm>
              <a:off x="6496051" y="4299068"/>
              <a:ext cx="7889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latin typeface="Arial" panose="020B0604020202020204" pitchFamily="34" charset="0"/>
                  <a:cs typeface="Arial" panose="020B0604020202020204" pitchFamily="34" charset="0"/>
                </a:rPr>
                <a:t>telescope</a:t>
              </a:r>
              <a:endParaRPr lang="zh-CN" alt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6B9631-A6BC-8BFD-2071-FC9752CCB503}"/>
              </a:ext>
            </a:extLst>
          </p:cNvPr>
          <p:cNvSpPr txBox="1"/>
          <p:nvPr/>
        </p:nvSpPr>
        <p:spPr>
          <a:xfrm>
            <a:off x="953959" y="1839792"/>
            <a:ext cx="3877985" cy="369332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Lidar receiving geometry with height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13BA1A7-1277-E2FA-1893-DA05C3E854BA}"/>
              </a:ext>
            </a:extLst>
          </p:cNvPr>
          <p:cNvSpPr txBox="1"/>
          <p:nvPr/>
        </p:nvSpPr>
        <p:spPr>
          <a:xfrm>
            <a:off x="2846888" y="5041176"/>
            <a:ext cx="9076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>
                <a:latin typeface="Arial" panose="020B0604020202020204" pitchFamily="34" charset="0"/>
                <a:cs typeface="Arial" panose="020B0604020202020204" pitchFamily="34" charset="0"/>
              </a:rPr>
              <a:t>D=200 mm</a:t>
            </a:r>
            <a:endParaRPr lang="zh-CN" alt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B0273D05-D702-7EDB-4F94-A508CA810AE9}"/>
              </a:ext>
            </a:extLst>
          </p:cNvPr>
          <p:cNvSpPr/>
          <p:nvPr/>
        </p:nvSpPr>
        <p:spPr>
          <a:xfrm>
            <a:off x="2395281" y="2973813"/>
            <a:ext cx="69850" cy="6985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947F5EF-D5B0-0461-1BCF-8F700F8226C0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2306740" y="2747011"/>
            <a:ext cx="223006" cy="2102009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D4751523-4040-53B0-7D55-F4C7CA432E42}"/>
              </a:ext>
            </a:extLst>
          </p:cNvPr>
          <p:cNvCxnSpPr>
            <a:cxnSpLocks/>
          </p:cNvCxnSpPr>
          <p:nvPr/>
        </p:nvCxnSpPr>
        <p:spPr>
          <a:xfrm flipV="1">
            <a:off x="3149174" y="2747011"/>
            <a:ext cx="223006" cy="2102009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9179A967-B21E-41A8-662D-BACA5EE41336}"/>
              </a:ext>
            </a:extLst>
          </p:cNvPr>
          <p:cNvCxnSpPr>
            <a:cxnSpLocks/>
          </p:cNvCxnSpPr>
          <p:nvPr/>
        </p:nvCxnSpPr>
        <p:spPr>
          <a:xfrm flipH="1" flipV="1">
            <a:off x="2438400" y="2990850"/>
            <a:ext cx="92869" cy="1852613"/>
          </a:xfrm>
          <a:prstGeom prst="line">
            <a:avLst/>
          </a:prstGeom>
          <a:ln w="9525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12D4AF5F-8FCB-10FE-249B-B90E565C81E4}"/>
              </a:ext>
            </a:extLst>
          </p:cNvPr>
          <p:cNvCxnSpPr>
            <a:cxnSpLocks/>
          </p:cNvCxnSpPr>
          <p:nvPr/>
        </p:nvCxnSpPr>
        <p:spPr>
          <a:xfrm flipH="1" flipV="1">
            <a:off x="2428875" y="2990850"/>
            <a:ext cx="711994" cy="1845469"/>
          </a:xfrm>
          <a:prstGeom prst="line">
            <a:avLst/>
          </a:prstGeom>
          <a:ln w="9525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B2D3215E-1DDA-F0F7-B176-8B5D9EB4E05C}"/>
              </a:ext>
            </a:extLst>
          </p:cNvPr>
          <p:cNvSpPr txBox="1"/>
          <p:nvPr/>
        </p:nvSpPr>
        <p:spPr>
          <a:xfrm>
            <a:off x="2248476" y="2754267"/>
            <a:ext cx="6238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droplet</a:t>
            </a:r>
            <a:endParaRPr lang="zh-CN" altLang="en-US" sz="11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B9F8B0E-016C-1204-814F-416DA886D585}"/>
              </a:ext>
            </a:extLst>
          </p:cNvPr>
          <p:cNvSpPr txBox="1"/>
          <p:nvPr/>
        </p:nvSpPr>
        <p:spPr>
          <a:xfrm rot="5400000">
            <a:off x="10638531" y="3599068"/>
            <a:ext cx="495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altLang="zh-CN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300EAC9-A55F-E7DB-DA4D-A488715272F5}"/>
              </a:ext>
            </a:extLst>
          </p:cNvPr>
          <p:cNvSpPr txBox="1"/>
          <p:nvPr/>
        </p:nvSpPr>
        <p:spPr>
          <a:xfrm>
            <a:off x="8848087" y="2734574"/>
            <a:ext cx="27383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depolarization ratio </a:t>
            </a:r>
          </a:p>
          <a:p>
            <a:r>
              <a:rPr lang="en-US" altLang="zh-CN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 355 nm</a:t>
            </a:r>
            <a:endParaRPr lang="zh-CN" alt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5919B86-B3F1-52BB-EDFC-B75FE4D221DA}"/>
              </a:ext>
            </a:extLst>
          </p:cNvPr>
          <p:cNvSpPr txBox="1"/>
          <p:nvPr/>
        </p:nvSpPr>
        <p:spPr>
          <a:xfrm>
            <a:off x="5790525" y="5569545"/>
            <a:ext cx="51667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altLang="zh-CN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zh-CN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enhancement at lower height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peak value of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altLang="zh-CN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fluctuates with particle size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peak value height not sensitive to particle size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23E738A-3A58-CF36-AA47-77E5CF795677}"/>
              </a:ext>
            </a:extLst>
          </p:cNvPr>
          <p:cNvSpPr txBox="1"/>
          <p:nvPr/>
        </p:nvSpPr>
        <p:spPr>
          <a:xfrm>
            <a:off x="1234676" y="5845841"/>
            <a:ext cx="2935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Assume distance = 200 mm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6224E23-A054-420D-D39C-DAA754F04BCA}"/>
              </a:ext>
            </a:extLst>
          </p:cNvPr>
          <p:cNvSpPr txBox="1"/>
          <p:nvPr/>
        </p:nvSpPr>
        <p:spPr>
          <a:xfrm>
            <a:off x="5959269" y="1470981"/>
            <a:ext cx="1494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r=250 um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051ECE3-C79F-8AB1-276A-9C661B655E8A}"/>
              </a:ext>
            </a:extLst>
          </p:cNvPr>
          <p:cNvSpPr txBox="1"/>
          <p:nvPr/>
        </p:nvSpPr>
        <p:spPr>
          <a:xfrm>
            <a:off x="5959269" y="2365242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axial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FCDDB98-BA46-4A43-898B-F250FD1AF8DB}"/>
              </a:ext>
            </a:extLst>
          </p:cNvPr>
          <p:cNvSpPr txBox="1"/>
          <p:nvPr/>
        </p:nvSpPr>
        <p:spPr>
          <a:xfrm>
            <a:off x="8751911" y="2335358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biaxial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0A13757-42FE-AA91-3A9D-A1E270D54C70}"/>
              </a:ext>
            </a:extLst>
          </p:cNvPr>
          <p:cNvSpPr txBox="1"/>
          <p:nvPr/>
        </p:nvSpPr>
        <p:spPr>
          <a:xfrm>
            <a:off x="2489915" y="3020366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biaxial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56003FE-E404-6007-9CF7-B1BC1A9B1D46}"/>
              </a:ext>
            </a:extLst>
          </p:cNvPr>
          <p:cNvSpPr txBox="1"/>
          <p:nvPr/>
        </p:nvSpPr>
        <p:spPr>
          <a:xfrm>
            <a:off x="-6382" y="6538627"/>
            <a:ext cx="4108817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Mind the constrain of field of view of the telescope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048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44B1949-5F8F-6224-8D0F-4DD0647E38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9" r="1"/>
          <a:stretch/>
        </p:blipFill>
        <p:spPr>
          <a:xfrm>
            <a:off x="2707442" y="845616"/>
            <a:ext cx="2160000" cy="258261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7AF69B3-F031-5DC2-8F4B-AE43887727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9" r="1"/>
          <a:stretch/>
        </p:blipFill>
        <p:spPr>
          <a:xfrm>
            <a:off x="5073636" y="845616"/>
            <a:ext cx="2160000" cy="258809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39D0A334-53AF-7DBE-E3FE-4084F9AA5814}"/>
              </a:ext>
            </a:extLst>
          </p:cNvPr>
          <p:cNvSpPr txBox="1"/>
          <p:nvPr/>
        </p:nvSpPr>
        <p:spPr>
          <a:xfrm>
            <a:off x="889000" y="431800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r=125 um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928F25C-A36E-E52A-847B-7682965F419F}"/>
              </a:ext>
            </a:extLst>
          </p:cNvPr>
          <p:cNvSpPr txBox="1"/>
          <p:nvPr/>
        </p:nvSpPr>
        <p:spPr>
          <a:xfrm>
            <a:off x="3176304" y="431800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r=250 um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8275AD-6DCD-E5CC-0762-D7CE89BAF4B4}"/>
              </a:ext>
            </a:extLst>
          </p:cNvPr>
          <p:cNvSpPr txBox="1"/>
          <p:nvPr/>
        </p:nvSpPr>
        <p:spPr>
          <a:xfrm>
            <a:off x="5542498" y="431800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r=500 um</a:t>
            </a:r>
            <a:endParaRPr lang="zh-CN" altLang="en-US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0431E7C5-2906-F31A-ED21-2265840053F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09" r="1"/>
          <a:stretch/>
        </p:blipFill>
        <p:spPr>
          <a:xfrm>
            <a:off x="7439828" y="845616"/>
            <a:ext cx="2160000" cy="2642807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09578E20-1E5D-823B-8544-A48DDFBF24CE}"/>
              </a:ext>
            </a:extLst>
          </p:cNvPr>
          <p:cNvSpPr txBox="1"/>
          <p:nvPr/>
        </p:nvSpPr>
        <p:spPr>
          <a:xfrm>
            <a:off x="7908692" y="431800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r=1000 um</a:t>
            </a:r>
            <a:endParaRPr lang="zh-CN" altLang="en-US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9E9D7B69-88A3-EA71-DD3C-ECDF5DF29F6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766"/>
          <a:stretch/>
        </p:blipFill>
        <p:spPr>
          <a:xfrm>
            <a:off x="9806023" y="845616"/>
            <a:ext cx="2160000" cy="2616605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7829F5FB-A967-9DF9-5784-60A805D09C44}"/>
              </a:ext>
            </a:extLst>
          </p:cNvPr>
          <p:cNvSpPr txBox="1"/>
          <p:nvPr/>
        </p:nvSpPr>
        <p:spPr>
          <a:xfrm>
            <a:off x="10347632" y="431800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r=2000 um</a:t>
            </a:r>
            <a:endParaRPr lang="zh-CN" altLang="en-US" dirty="0"/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CFEB99CA-EF8E-D93A-31BA-58C83360E69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033"/>
          <a:stretch/>
        </p:blipFill>
        <p:spPr>
          <a:xfrm>
            <a:off x="426718" y="845616"/>
            <a:ext cx="2160000" cy="2756842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5ED18659-C7E3-4EBC-41AD-A23975ECB1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592" y="3556150"/>
            <a:ext cx="2160000" cy="266136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3AA6420-3728-4183-B51D-FD05F8EF75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28900" y="3556150"/>
            <a:ext cx="2160000" cy="264075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578AF2E-9A14-651B-81A1-449EFCD653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6209" y="3556150"/>
            <a:ext cx="2160000" cy="264075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617A244-3B7A-3D24-95E0-D7AC05B061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63518" y="3556150"/>
            <a:ext cx="2160000" cy="271304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CF388D2-9C9E-EC47-9B51-529EEB4CAAD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30826" y="3556150"/>
            <a:ext cx="2160000" cy="268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1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39D0A334-53AF-7DBE-E3FE-4084F9AA5814}"/>
              </a:ext>
            </a:extLst>
          </p:cNvPr>
          <p:cNvSpPr txBox="1"/>
          <p:nvPr/>
        </p:nvSpPr>
        <p:spPr>
          <a:xfrm>
            <a:off x="889000" y="431800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r=125 um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928F25C-A36E-E52A-847B-7682965F419F}"/>
              </a:ext>
            </a:extLst>
          </p:cNvPr>
          <p:cNvSpPr txBox="1"/>
          <p:nvPr/>
        </p:nvSpPr>
        <p:spPr>
          <a:xfrm>
            <a:off x="3176304" y="431800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r=250 um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8275AD-6DCD-E5CC-0762-D7CE89BAF4B4}"/>
              </a:ext>
            </a:extLst>
          </p:cNvPr>
          <p:cNvSpPr txBox="1"/>
          <p:nvPr/>
        </p:nvSpPr>
        <p:spPr>
          <a:xfrm>
            <a:off x="5542498" y="431800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r=500 um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9578E20-1E5D-823B-8544-A48DDFBF24CE}"/>
              </a:ext>
            </a:extLst>
          </p:cNvPr>
          <p:cNvSpPr txBox="1"/>
          <p:nvPr/>
        </p:nvSpPr>
        <p:spPr>
          <a:xfrm>
            <a:off x="7908692" y="431800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r=1000 um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829F5FB-A967-9DF9-5784-60A805D09C44}"/>
              </a:ext>
            </a:extLst>
          </p:cNvPr>
          <p:cNvSpPr txBox="1"/>
          <p:nvPr/>
        </p:nvSpPr>
        <p:spPr>
          <a:xfrm>
            <a:off x="10347632" y="520924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r=2000 um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0A6CA61-94C3-2754-0A1F-D89E429E8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84" y="926750"/>
            <a:ext cx="2160000" cy="248350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60CF4A4-7340-6DF4-AA49-0FCCC77D6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92" y="3512462"/>
            <a:ext cx="2160000" cy="266136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E2A558E-C350-A5FD-57CB-8BEEDD184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7419" y="926750"/>
            <a:ext cx="2160000" cy="248121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FC3E50E-47A1-1EAC-246C-5BA57D43E4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7786" y="3512462"/>
            <a:ext cx="2160000" cy="264075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8C8BBA12-9352-322D-7E1E-CE72ABFDCE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8554" y="926750"/>
            <a:ext cx="2160000" cy="2476496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89A38438-ECB6-9575-3E42-08D3E3C5B8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3980" y="3512462"/>
            <a:ext cx="2160000" cy="2640752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63C30A31-EBF0-BAB9-1E9A-20C2CC82DE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9689" y="926750"/>
            <a:ext cx="2160000" cy="2495853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6F8EFA98-7EC6-A919-EA36-F5FE36D753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7412" y="3512462"/>
            <a:ext cx="2160000" cy="2713043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5A89B44A-A686-FD38-A11C-9313914F407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30826" y="926750"/>
            <a:ext cx="2160000" cy="2471352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627354F3-3F6F-0F79-216E-21160E52FC5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30826" y="3512462"/>
            <a:ext cx="2160000" cy="268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841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2B2E85-AE1D-7F73-EF5F-E96CFAA19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15" y="94831"/>
            <a:ext cx="11887200" cy="1325563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Polarimetry by water droplets with similar size distribution</a:t>
            </a:r>
            <a:endParaRPr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0D2B76A-1EBC-E7B4-0F0B-EE7F97D70F08}"/>
              </a:ext>
            </a:extLst>
          </p:cNvPr>
          <p:cNvSpPr txBox="1"/>
          <p:nvPr/>
        </p:nvSpPr>
        <p:spPr>
          <a:xfrm>
            <a:off x="810883" y="1178939"/>
            <a:ext cx="1944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999.5-1000.5 um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CC06E05-6CE1-E543-130D-4C34176EBB5C}"/>
              </a:ext>
            </a:extLst>
          </p:cNvPr>
          <p:cNvSpPr txBox="1"/>
          <p:nvPr/>
        </p:nvSpPr>
        <p:spPr>
          <a:xfrm>
            <a:off x="3768799" y="1178939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998.5-1001.5 um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9FC691-E81C-01D2-F799-ACD54C6D998F}"/>
              </a:ext>
            </a:extLst>
          </p:cNvPr>
          <p:cNvSpPr txBox="1"/>
          <p:nvPr/>
        </p:nvSpPr>
        <p:spPr>
          <a:xfrm>
            <a:off x="6540956" y="1178939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997.5-1002.5 um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35A713-100D-D442-230D-565A22830C75}"/>
              </a:ext>
            </a:extLst>
          </p:cNvPr>
          <p:cNvSpPr txBox="1"/>
          <p:nvPr/>
        </p:nvSpPr>
        <p:spPr>
          <a:xfrm>
            <a:off x="8947725" y="1178939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995.5-1004.5 um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0FA3D28-4BC2-BB99-28A4-071C4DA3D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83" y="1614327"/>
            <a:ext cx="2268000" cy="245592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F067744-0CD6-3576-C463-34BDC92DB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445" y="4161625"/>
            <a:ext cx="2160000" cy="254652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8FDE478-6CFF-07FF-B58D-333A6358C7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3045" y="1614327"/>
            <a:ext cx="2268000" cy="248832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1304790-D291-74A2-2C81-7ED48AE9B4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6842" y="4161625"/>
            <a:ext cx="2160000" cy="255686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F3D5DD54-2ED7-7EA7-5B06-FF36E1E1E7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4117" y="1614328"/>
            <a:ext cx="2130989" cy="248832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6B692E4D-953C-6570-941B-60162DEB7F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3597" y="4161625"/>
            <a:ext cx="2160000" cy="2531403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7F0DE786-01EE-D65F-8441-E6DE420A73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2299" y="1614327"/>
            <a:ext cx="2196869" cy="2518203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EC541614-55E6-154C-ECD1-C28E21455F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52300" y="4161625"/>
            <a:ext cx="2160000" cy="255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465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2B2E85-AE1D-7F73-EF5F-E96CFAA19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15" y="94831"/>
            <a:ext cx="11887200" cy="1325563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Polarimetry by water droplets with similar size distribution</a:t>
            </a:r>
            <a:endParaRPr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0D2B76A-1EBC-E7B4-0F0B-EE7F97D70F08}"/>
              </a:ext>
            </a:extLst>
          </p:cNvPr>
          <p:cNvSpPr txBox="1"/>
          <p:nvPr/>
        </p:nvSpPr>
        <p:spPr>
          <a:xfrm>
            <a:off x="810883" y="1299710"/>
            <a:ext cx="2164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999.5:0.2:1000.5 um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CC06E05-6CE1-E543-130D-4C34176EBB5C}"/>
              </a:ext>
            </a:extLst>
          </p:cNvPr>
          <p:cNvSpPr txBox="1"/>
          <p:nvPr/>
        </p:nvSpPr>
        <p:spPr>
          <a:xfrm>
            <a:off x="3768799" y="1299710"/>
            <a:ext cx="2164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999.5:0.1:1000.5 um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9FC691-E81C-01D2-F799-ACD54C6D998F}"/>
              </a:ext>
            </a:extLst>
          </p:cNvPr>
          <p:cNvSpPr txBox="1"/>
          <p:nvPr/>
        </p:nvSpPr>
        <p:spPr>
          <a:xfrm>
            <a:off x="6540956" y="1299710"/>
            <a:ext cx="2286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999.5:0.05:1000.5 um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35A713-100D-D442-230D-565A22830C75}"/>
              </a:ext>
            </a:extLst>
          </p:cNvPr>
          <p:cNvSpPr txBox="1"/>
          <p:nvPr/>
        </p:nvSpPr>
        <p:spPr>
          <a:xfrm>
            <a:off x="8947725" y="1299710"/>
            <a:ext cx="2286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999.5:0.02:1000.5 um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E89E8C2-7ECA-33AF-8DAF-3C29D4054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585" y="1669043"/>
            <a:ext cx="2304000" cy="251794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86CEBA6-B301-8B91-EE56-D7426D992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353" y="4209580"/>
            <a:ext cx="2160000" cy="257016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16B883F-7E3D-C9D7-6FA8-20792D1FE1E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20" r="1"/>
          <a:stretch/>
        </p:blipFill>
        <p:spPr>
          <a:xfrm>
            <a:off x="889000" y="1669043"/>
            <a:ext cx="2304000" cy="249986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42164CB-02AD-B2F5-C7B7-68275598C8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636" y="4209580"/>
            <a:ext cx="2160000" cy="259792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A40A0FB-FFE5-161A-2F5B-23A24423E1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5384" y="1650966"/>
            <a:ext cx="2304000" cy="251794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5FC29A0-1E74-CFD7-0A83-C85F4178C6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7181" y="4209580"/>
            <a:ext cx="2160000" cy="2475789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3A8A20D0-A989-B9A6-B4A1-3E03270FED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8777" y="1685500"/>
            <a:ext cx="2304000" cy="2501486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FCF0C30-15F6-9879-8028-91547A6B18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12777" y="4186986"/>
            <a:ext cx="2160000" cy="240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797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2B2E85-AE1D-7F73-EF5F-E96CFAA19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15" y="94831"/>
            <a:ext cx="11887200" cy="1325563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Polarimetry by water droplets with similar size distribution</a:t>
            </a:r>
            <a:endParaRPr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0D2B76A-1EBC-E7B4-0F0B-EE7F97D70F08}"/>
              </a:ext>
            </a:extLst>
          </p:cNvPr>
          <p:cNvSpPr txBox="1"/>
          <p:nvPr/>
        </p:nvSpPr>
        <p:spPr>
          <a:xfrm>
            <a:off x="1326556" y="1051062"/>
            <a:ext cx="1696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250:0.1:251 um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CC06E05-6CE1-E543-130D-4C34176EBB5C}"/>
              </a:ext>
            </a:extLst>
          </p:cNvPr>
          <p:cNvSpPr txBox="1"/>
          <p:nvPr/>
        </p:nvSpPr>
        <p:spPr>
          <a:xfrm>
            <a:off x="4222458" y="1025780"/>
            <a:ext cx="1696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500:0.1:501 um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9FC691-E81C-01D2-F799-ACD54C6D998F}"/>
              </a:ext>
            </a:extLst>
          </p:cNvPr>
          <p:cNvSpPr txBox="1"/>
          <p:nvPr/>
        </p:nvSpPr>
        <p:spPr>
          <a:xfrm>
            <a:off x="6850168" y="1051540"/>
            <a:ext cx="1939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1000:0.1:1001 um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35A713-100D-D442-230D-565A22830C75}"/>
              </a:ext>
            </a:extLst>
          </p:cNvPr>
          <p:cNvSpPr txBox="1"/>
          <p:nvPr/>
        </p:nvSpPr>
        <p:spPr>
          <a:xfrm>
            <a:off x="9607212" y="1071921"/>
            <a:ext cx="1939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2000:0.1:2001 um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1D7CDD3-8201-2899-5B46-B1AB92D5B0AB}"/>
              </a:ext>
            </a:extLst>
          </p:cNvPr>
          <p:cNvSpPr txBox="1"/>
          <p:nvPr/>
        </p:nvSpPr>
        <p:spPr>
          <a:xfrm>
            <a:off x="146429" y="1044142"/>
            <a:ext cx="954107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355 um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5D2A2B8-A906-1A22-75AE-7454A0AA9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76" y="1472643"/>
            <a:ext cx="2160000" cy="248121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D802F66-C65F-B4AC-BB71-51693E38A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215" y="4017787"/>
            <a:ext cx="2017419" cy="246643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4B6CF19-9AB8-9170-DF78-FDA95DAF2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9943" y="1361945"/>
            <a:ext cx="2160000" cy="247649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0CB7252-031A-414A-302C-B648002225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2749" y="4031883"/>
            <a:ext cx="2075717" cy="253771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F03D31C-4ACE-666F-0276-C43DFDC940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6831" y="1420394"/>
            <a:ext cx="2160000" cy="249585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48600FA-27B0-3798-4DE2-1FBEAD56C2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2326" y="4025623"/>
            <a:ext cx="2044505" cy="256797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087EA6B-954D-C67A-D250-4573A1D73A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8034" y="1409401"/>
            <a:ext cx="2160000" cy="247135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9262400-756D-AA70-D224-74947CD3C6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48057" y="3967016"/>
            <a:ext cx="2062908" cy="256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17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2B2E85-AE1D-7F73-EF5F-E96CFAA19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-263121"/>
            <a:ext cx="11887200" cy="1325563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Polarimetry by water droplets with similar size distribution</a:t>
            </a:r>
            <a:endParaRPr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0D2B76A-1EBC-E7B4-0F0B-EE7F97D70F08}"/>
              </a:ext>
            </a:extLst>
          </p:cNvPr>
          <p:cNvSpPr txBox="1"/>
          <p:nvPr/>
        </p:nvSpPr>
        <p:spPr>
          <a:xfrm>
            <a:off x="1609120" y="794001"/>
            <a:ext cx="1696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250:0.1:251 um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CC06E05-6CE1-E543-130D-4C34176EBB5C}"/>
              </a:ext>
            </a:extLst>
          </p:cNvPr>
          <p:cNvSpPr txBox="1"/>
          <p:nvPr/>
        </p:nvSpPr>
        <p:spPr>
          <a:xfrm>
            <a:off x="4567036" y="794001"/>
            <a:ext cx="1696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500:0.1:501 um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9FC691-E81C-01D2-F799-ACD54C6D998F}"/>
              </a:ext>
            </a:extLst>
          </p:cNvPr>
          <p:cNvSpPr txBox="1"/>
          <p:nvPr/>
        </p:nvSpPr>
        <p:spPr>
          <a:xfrm>
            <a:off x="7053443" y="794001"/>
            <a:ext cx="1939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1000:0.1:1001 um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35A713-100D-D442-230D-565A22830C75}"/>
              </a:ext>
            </a:extLst>
          </p:cNvPr>
          <p:cNvSpPr txBox="1"/>
          <p:nvPr/>
        </p:nvSpPr>
        <p:spPr>
          <a:xfrm>
            <a:off x="9613810" y="788250"/>
            <a:ext cx="1939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2000:0.1:2001 um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80C8DFB-4F92-229E-52C0-0B751A184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699" y="1188258"/>
            <a:ext cx="2269140" cy="245391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DAF0022-0F9C-F7C8-803D-B3CFAD9AE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877" y="3694430"/>
            <a:ext cx="2392809" cy="289362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B80FD54-BC55-B214-A716-D989C097A99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265"/>
          <a:stretch/>
        </p:blipFill>
        <p:spPr>
          <a:xfrm>
            <a:off x="4188448" y="1203969"/>
            <a:ext cx="2263839" cy="252809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ED917B2-407E-E4D4-9248-B7BABADBF7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8273" y="3760698"/>
            <a:ext cx="2263839" cy="280730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BE5F3D2-DAE6-CDC0-2136-79F16A63DC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1808" y="1293451"/>
            <a:ext cx="2205816" cy="250915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A85CDF54-5668-8EE8-22A0-359E46C14E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0799" y="3802606"/>
            <a:ext cx="2181590" cy="2723491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D6969216-5D5A-021C-6AA4-BBAA15F552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2860" y="1274333"/>
            <a:ext cx="2205817" cy="2420097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C0EA1140-134C-EA12-B7E8-8C5B99C382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88735" y="3811181"/>
            <a:ext cx="2125415" cy="2619776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A2D61591-5229-A49A-4C64-FF914AEEF99F}"/>
              </a:ext>
            </a:extLst>
          </p:cNvPr>
          <p:cNvSpPr txBox="1"/>
          <p:nvPr/>
        </p:nvSpPr>
        <p:spPr>
          <a:xfrm>
            <a:off x="117083" y="763874"/>
            <a:ext cx="954107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532 um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5863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CB9EE4-0D35-C1B3-B026-DCC073A84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0" y="-190500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Wavelength Dependent Polarimetry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96D3FC58-5466-676D-CE78-7D6C6649937E}"/>
              </a:ext>
            </a:extLst>
          </p:cNvPr>
          <p:cNvGrpSpPr/>
          <p:nvPr/>
        </p:nvGrpSpPr>
        <p:grpSpPr>
          <a:xfrm>
            <a:off x="581221" y="1358900"/>
            <a:ext cx="3059116" cy="4737100"/>
            <a:chOff x="701871" y="1397000"/>
            <a:chExt cx="3059116" cy="4737100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2B2DB7E7-A6EF-C113-856D-B7F410519A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52" t="2502" r="26015" b="12071"/>
            <a:stretch/>
          </p:blipFill>
          <p:spPr>
            <a:xfrm>
              <a:off x="958850" y="1397000"/>
              <a:ext cx="2802137" cy="4737100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CDE3938F-EC9E-A3FE-8D0C-FE6FCF543F77}"/>
                </a:ext>
              </a:extLst>
            </p:cNvPr>
            <p:cNvSpPr txBox="1"/>
            <p:nvPr/>
          </p:nvSpPr>
          <p:spPr>
            <a:xfrm rot="16200000">
              <a:off x="485308" y="2298700"/>
              <a:ext cx="7409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Height</a:t>
              </a:r>
              <a:endParaRPr lang="zh-CN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72585ECE-010E-996F-41E0-9C48FE816C3F}"/>
                </a:ext>
              </a:extLst>
            </p:cNvPr>
            <p:cNvSpPr txBox="1"/>
            <p:nvPr/>
          </p:nvSpPr>
          <p:spPr>
            <a:xfrm rot="16200000">
              <a:off x="485306" y="4813302"/>
              <a:ext cx="7409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Height</a:t>
              </a:r>
              <a:endParaRPr lang="zh-CN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DF40070-DB30-99E1-4E97-923C210B067B}"/>
              </a:ext>
            </a:extLst>
          </p:cNvPr>
          <p:cNvGrpSpPr/>
          <p:nvPr/>
        </p:nvGrpSpPr>
        <p:grpSpPr>
          <a:xfrm>
            <a:off x="4901758" y="3727450"/>
            <a:ext cx="4222939" cy="3039889"/>
            <a:chOff x="5105092" y="3325483"/>
            <a:chExt cx="4222939" cy="3039889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4069A316-4579-9062-2011-6F1D6B0E25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05092" y="3325483"/>
              <a:ext cx="4222939" cy="3039889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E5B0006-A553-C465-B383-A52515D61499}"/>
                </a:ext>
              </a:extLst>
            </p:cNvPr>
            <p:cNvSpPr txBox="1"/>
            <p:nvPr/>
          </p:nvSpPr>
          <p:spPr>
            <a:xfrm>
              <a:off x="5773947" y="3858883"/>
              <a:ext cx="9332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532 nm</a:t>
              </a:r>
              <a:endParaRPr lang="zh-CN" altLang="en-US" dirty="0"/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A56D07D2-1597-1F2D-054D-D8A6BC18D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7728" y="779663"/>
            <a:ext cx="4333630" cy="294778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D9FE734-5025-8EB0-9FCE-1FC4D84F0AAD}"/>
              </a:ext>
            </a:extLst>
          </p:cNvPr>
          <p:cNvSpPr txBox="1"/>
          <p:nvPr/>
        </p:nvSpPr>
        <p:spPr>
          <a:xfrm>
            <a:off x="5717262" y="1619084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355 nm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5387677-32D7-EF05-FADE-52196A33D105}"/>
              </a:ext>
            </a:extLst>
          </p:cNvPr>
          <p:cNvSpPr txBox="1"/>
          <p:nvPr/>
        </p:nvSpPr>
        <p:spPr>
          <a:xfrm>
            <a:off x="9124697" y="4512947"/>
            <a:ext cx="20088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300 mm telescope</a:t>
            </a:r>
          </a:p>
          <a:p>
            <a:r>
              <a:rPr lang="en-US" altLang="zh-CN" dirty="0"/>
              <a:t>250 mm distance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8BC1BA1-64C5-7B46-9E81-62C48C8F5D71}"/>
              </a:ext>
            </a:extLst>
          </p:cNvPr>
          <p:cNvSpPr txBox="1"/>
          <p:nvPr/>
        </p:nvSpPr>
        <p:spPr>
          <a:xfrm>
            <a:off x="8920538" y="1888437"/>
            <a:ext cx="20088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200 mm telescope</a:t>
            </a:r>
          </a:p>
          <a:p>
            <a:r>
              <a:rPr lang="en-US" altLang="zh-CN" dirty="0"/>
              <a:t>200 mm distance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6475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14EFB-9EA8-805B-EA7C-EFB409E61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20" y="-176636"/>
            <a:ext cx="11856720" cy="1325563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Scattering by water droplets at VIS band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6593550-DB85-B12D-3C6B-0D004FA14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" y="1155648"/>
            <a:ext cx="5760000" cy="495806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1CFF5F0-AE0A-D98D-B202-929CF83E9296}"/>
              </a:ext>
            </a:extLst>
          </p:cNvPr>
          <p:cNvSpPr txBox="1"/>
          <p:nvPr/>
        </p:nvSpPr>
        <p:spPr>
          <a:xfrm>
            <a:off x="0" y="6454775"/>
            <a:ext cx="12192000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R="0"/>
            <a:r>
              <a:rPr lang="en-US" altLang="zh-CN" sz="1000" dirty="0">
                <a:latin typeface="Segoe UI" panose="020B0502040204020203" pitchFamily="34" charset="0"/>
              </a:rPr>
              <a:t>Lolli, S.; Welton, E.J.; Campbell, J.R. Evaluating Light Rain Drop Size Estimates from Multiwavelength </a:t>
            </a:r>
            <a:r>
              <a:rPr lang="en-US" altLang="zh-CN" sz="1000" dirty="0" err="1">
                <a:latin typeface="Segoe UI" panose="020B0502040204020203" pitchFamily="34" charset="0"/>
              </a:rPr>
              <a:t>Micropulse</a:t>
            </a:r>
            <a:r>
              <a:rPr lang="en-US" altLang="zh-CN" sz="1000" dirty="0">
                <a:latin typeface="Segoe UI" panose="020B0502040204020203" pitchFamily="34" charset="0"/>
              </a:rPr>
              <a:t> Lidar Network Profiling. </a:t>
            </a:r>
            <a:r>
              <a:rPr lang="en-US" altLang="zh-CN" sz="1000" i="1" dirty="0">
                <a:latin typeface="Segoe UI" panose="020B0502040204020203" pitchFamily="34" charset="0"/>
              </a:rPr>
              <a:t>Journal of Atmospheric and Oceanic Technology </a:t>
            </a:r>
            <a:r>
              <a:rPr lang="en-US" altLang="zh-CN" sz="1000" b="1" i="1" dirty="0">
                <a:latin typeface="Segoe UI" panose="020B0502040204020203" pitchFamily="34" charset="0"/>
              </a:rPr>
              <a:t>2013, 30, 2798-2807, </a:t>
            </a:r>
            <a:r>
              <a:rPr lang="en-US" altLang="zh-CN" sz="1000" b="1" i="1" dirty="0" err="1">
                <a:latin typeface="Segoe UI" panose="020B0502040204020203" pitchFamily="34" charset="0"/>
              </a:rPr>
              <a:t>doi:https</a:t>
            </a:r>
            <a:r>
              <a:rPr lang="en-US" altLang="zh-CN" sz="1000" b="1" i="1" dirty="0">
                <a:latin typeface="Segoe UI" panose="020B0502040204020203" pitchFamily="34" charset="0"/>
              </a:rPr>
              <a:t>://doi.org/10.1175/JTECH-D-13-00062.1.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471E468-E765-7BD9-D9C9-7FBF0E1DF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609" y="1319459"/>
            <a:ext cx="5760000" cy="479425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EC3CC27-2C30-D732-2EC6-12E6965995BD}"/>
              </a:ext>
            </a:extLst>
          </p:cNvPr>
          <p:cNvSpPr txBox="1"/>
          <p:nvPr/>
        </p:nvSpPr>
        <p:spPr>
          <a:xfrm>
            <a:off x="2004060" y="970982"/>
            <a:ext cx="2438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Backscatter Efficiency</a:t>
            </a:r>
            <a:endParaRPr lang="zh-CN" altLang="en-US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41B4874-63B1-B2CE-4D7D-C2EB4B30038E}"/>
              </a:ext>
            </a:extLst>
          </p:cNvPr>
          <p:cNvSpPr txBox="1"/>
          <p:nvPr/>
        </p:nvSpPr>
        <p:spPr>
          <a:xfrm>
            <a:off x="7636689" y="1069449"/>
            <a:ext cx="2284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Extinction Efficiency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685281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63C2CE39-BD10-7344-148B-86D0E3BC7A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434"/>
          <a:stretch/>
        </p:blipFill>
        <p:spPr>
          <a:xfrm>
            <a:off x="117057" y="1986449"/>
            <a:ext cx="9350038" cy="471894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C7B3E02-AA9E-AA42-F27A-EB9BFD1F6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0028" y="1637100"/>
            <a:ext cx="2327067" cy="254647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1B9CB49-5EFE-565B-EFDD-48D9EED3C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Polarimetry by polydisperse water droplets</a:t>
            </a:r>
            <a:endParaRPr lang="zh-CN" altLang="en-US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CCE296B-17D5-2DD7-E54B-3EA99FAEC966}"/>
              </a:ext>
            </a:extLst>
          </p:cNvPr>
          <p:cNvGrpSpPr/>
          <p:nvPr/>
        </p:nvGrpSpPr>
        <p:grpSpPr>
          <a:xfrm>
            <a:off x="8054341" y="1637100"/>
            <a:ext cx="3878122" cy="2600404"/>
            <a:chOff x="2097576" y="2149851"/>
            <a:chExt cx="4729186" cy="3171069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1F9C67AC-DCC5-F380-8DD1-0ABC233E8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21333" y="2149851"/>
              <a:ext cx="2905429" cy="3171069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A32A1C1-BC5A-17D2-8C65-2D8A7D6A635A}"/>
                </a:ext>
              </a:extLst>
            </p:cNvPr>
            <p:cNvSpPr txBox="1"/>
            <p:nvPr/>
          </p:nvSpPr>
          <p:spPr>
            <a:xfrm>
              <a:off x="2097576" y="2575866"/>
              <a:ext cx="8034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biaxial</a:t>
              </a:r>
              <a:endParaRPr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0A08303-943C-9138-2AEC-65B9CF1B688A}"/>
                </a:ext>
              </a:extLst>
            </p:cNvPr>
            <p:cNvSpPr txBox="1"/>
            <p:nvPr/>
          </p:nvSpPr>
          <p:spPr>
            <a:xfrm>
              <a:off x="5493465" y="2575866"/>
              <a:ext cx="619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axial</a:t>
              </a:r>
              <a:endParaRPr lang="zh-CN" altLang="en-US" dirty="0"/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3B7E93F8-C264-45D1-4640-69BF4DF27A96}"/>
              </a:ext>
            </a:extLst>
          </p:cNvPr>
          <p:cNvSpPr txBox="1"/>
          <p:nvPr/>
        </p:nvSpPr>
        <p:spPr>
          <a:xfrm>
            <a:off x="7742399" y="1296046"/>
            <a:ext cx="1282723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b="1" dirty="0"/>
              <a:t>simulation</a:t>
            </a:r>
            <a:endParaRPr lang="zh-CN" altLang="en-US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2A4E1AF-A9DB-04E8-94B4-3E046C4FFD56}"/>
              </a:ext>
            </a:extLst>
          </p:cNvPr>
          <p:cNvSpPr txBox="1"/>
          <p:nvPr/>
        </p:nvSpPr>
        <p:spPr>
          <a:xfrm>
            <a:off x="1064046" y="1690688"/>
            <a:ext cx="3823483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b="1" dirty="0"/>
              <a:t>observation at Wuhan 2020-06-02</a:t>
            </a:r>
            <a:endParaRPr lang="zh-CN" altLang="en-US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A2976C6-A7A2-B8C2-7A3C-9F0B72865E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5550" y="4403293"/>
            <a:ext cx="2689393" cy="210451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0E8535D-AF1E-3DE1-EE9B-0F131C8A9237}"/>
              </a:ext>
            </a:extLst>
          </p:cNvPr>
          <p:cNvSpPr txBox="1"/>
          <p:nvPr/>
        </p:nvSpPr>
        <p:spPr>
          <a:xfrm>
            <a:off x="10173419" y="481725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二阶和三阶矩</a:t>
            </a:r>
          </a:p>
        </p:txBody>
      </p:sp>
    </p:spTree>
    <p:extLst>
      <p:ext uri="{BB962C8B-B14F-4D97-AF65-F5344CB8AC3E}">
        <p14:creationId xmlns:p14="http://schemas.microsoft.com/office/powerpoint/2010/main" val="4066616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B9CB49-5EFE-565B-EFDD-48D9EED3C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Polarimetry by polydisperse water droplets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2A4E1AF-A9DB-04E8-94B4-3E046C4FFD56}"/>
              </a:ext>
            </a:extLst>
          </p:cNvPr>
          <p:cNvSpPr txBox="1"/>
          <p:nvPr/>
        </p:nvSpPr>
        <p:spPr>
          <a:xfrm>
            <a:off x="1064046" y="1690688"/>
            <a:ext cx="3823483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b="1" dirty="0"/>
              <a:t>observation at Wuhan 2020-06-02</a:t>
            </a:r>
            <a:endParaRPr lang="zh-CN" altLang="en-US" b="1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47C2765-B0A0-3570-B514-6850D4E6077C}"/>
              </a:ext>
            </a:extLst>
          </p:cNvPr>
          <p:cNvGrpSpPr/>
          <p:nvPr/>
        </p:nvGrpSpPr>
        <p:grpSpPr>
          <a:xfrm>
            <a:off x="117057" y="1986449"/>
            <a:ext cx="7394993" cy="4718942"/>
            <a:chOff x="117057" y="1986449"/>
            <a:chExt cx="7394993" cy="4718942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63C2CE39-BD10-7344-148B-86D0E3BC7A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1434" r="23130"/>
            <a:stretch/>
          </p:blipFill>
          <p:spPr>
            <a:xfrm>
              <a:off x="117057" y="1986449"/>
              <a:ext cx="7187416" cy="4718942"/>
            </a:xfrm>
            <a:prstGeom prst="rect">
              <a:avLst/>
            </a:prstGeom>
          </p:spPr>
        </p:pic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FEA9C416-A8D1-8B4F-9AFD-73A743FE5AC9}"/>
                </a:ext>
              </a:extLst>
            </p:cNvPr>
            <p:cNvSpPr/>
            <p:nvPr/>
          </p:nvSpPr>
          <p:spPr>
            <a:xfrm>
              <a:off x="7048500" y="5029200"/>
              <a:ext cx="463550" cy="11747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E8C950D8-5D46-D3C3-2A47-37A72E774B85}"/>
              </a:ext>
            </a:extLst>
          </p:cNvPr>
          <p:cNvSpPr txBox="1"/>
          <p:nvPr/>
        </p:nvSpPr>
        <p:spPr>
          <a:xfrm>
            <a:off x="7562812" y="1708637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17:00-17:05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C3761A5-ED40-68AB-8A06-C8234776F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338" y="2212545"/>
            <a:ext cx="2044462" cy="243291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2E0403D-8805-B63D-B2CA-3715317F6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4035" y="2150780"/>
            <a:ext cx="2360828" cy="255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309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B9CB49-5EFE-565B-EFDD-48D9EED3C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Polarimetry by polydisperse water droplets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2A4E1AF-A9DB-04E8-94B4-3E046C4FFD56}"/>
              </a:ext>
            </a:extLst>
          </p:cNvPr>
          <p:cNvSpPr txBox="1"/>
          <p:nvPr/>
        </p:nvSpPr>
        <p:spPr>
          <a:xfrm>
            <a:off x="1064046" y="1690688"/>
            <a:ext cx="3823483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b="1" dirty="0"/>
              <a:t>observation at Wuhan 2020-06-02</a:t>
            </a:r>
            <a:endParaRPr lang="zh-CN" altLang="en-US" b="1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47C2765-B0A0-3570-B514-6850D4E6077C}"/>
              </a:ext>
            </a:extLst>
          </p:cNvPr>
          <p:cNvGrpSpPr/>
          <p:nvPr/>
        </p:nvGrpSpPr>
        <p:grpSpPr>
          <a:xfrm>
            <a:off x="117057" y="1986449"/>
            <a:ext cx="7394993" cy="4718942"/>
            <a:chOff x="117057" y="1986449"/>
            <a:chExt cx="7394993" cy="4718942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63C2CE39-BD10-7344-148B-86D0E3BC7A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1434" r="23130"/>
            <a:stretch/>
          </p:blipFill>
          <p:spPr>
            <a:xfrm>
              <a:off x="117057" y="1986449"/>
              <a:ext cx="7187416" cy="4718942"/>
            </a:xfrm>
            <a:prstGeom prst="rect">
              <a:avLst/>
            </a:prstGeom>
          </p:spPr>
        </p:pic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FEA9C416-A8D1-8B4F-9AFD-73A743FE5AC9}"/>
                </a:ext>
              </a:extLst>
            </p:cNvPr>
            <p:cNvSpPr/>
            <p:nvPr/>
          </p:nvSpPr>
          <p:spPr>
            <a:xfrm>
              <a:off x="7048500" y="5029200"/>
              <a:ext cx="463550" cy="11747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5D53E54-A374-9C44-9F17-A978FB209169}"/>
              </a:ext>
            </a:extLst>
          </p:cNvPr>
          <p:cNvCxnSpPr/>
          <p:nvPr/>
        </p:nvCxnSpPr>
        <p:spPr>
          <a:xfrm flipV="1">
            <a:off x="3111260" y="3174521"/>
            <a:ext cx="0" cy="799381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8967044-5549-1B30-9012-1932A6A66067}"/>
              </a:ext>
            </a:extLst>
          </p:cNvPr>
          <p:cNvCxnSpPr/>
          <p:nvPr/>
        </p:nvCxnSpPr>
        <p:spPr>
          <a:xfrm flipV="1">
            <a:off x="3111260" y="2147977"/>
            <a:ext cx="0" cy="799381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996EFE4-C370-22B1-1AA8-1001F6FA21ED}"/>
              </a:ext>
            </a:extLst>
          </p:cNvPr>
          <p:cNvCxnSpPr/>
          <p:nvPr/>
        </p:nvCxnSpPr>
        <p:spPr>
          <a:xfrm flipV="1">
            <a:off x="3111260" y="5167223"/>
            <a:ext cx="0" cy="799381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F20B80B-021C-B6E8-8FCE-1B77A2061B5D}"/>
              </a:ext>
            </a:extLst>
          </p:cNvPr>
          <p:cNvCxnSpPr/>
          <p:nvPr/>
        </p:nvCxnSpPr>
        <p:spPr>
          <a:xfrm flipV="1">
            <a:off x="3111260" y="4140679"/>
            <a:ext cx="0" cy="799381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3C07BA43-78DF-CAF6-4C9C-B76DA536326B}"/>
              </a:ext>
            </a:extLst>
          </p:cNvPr>
          <p:cNvSpPr txBox="1"/>
          <p:nvPr/>
        </p:nvSpPr>
        <p:spPr>
          <a:xfrm>
            <a:off x="7738614" y="5434150"/>
            <a:ext cx="38619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/>
              <a:t>scattering by drizzles along height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/>
              <a:t>depolarization along height</a:t>
            </a:r>
            <a:endParaRPr lang="zh-CN" altLang="en-US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629C716B-0E09-C093-284F-D83A95C84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3434" y="2350595"/>
            <a:ext cx="4320000" cy="296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406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D3DA4AFB-B5E8-86EF-8B7F-57D740E191E7}"/>
              </a:ext>
            </a:extLst>
          </p:cNvPr>
          <p:cNvSpPr txBox="1">
            <a:spLocks/>
          </p:cNvSpPr>
          <p:nvPr/>
        </p:nvSpPr>
        <p:spPr>
          <a:xfrm>
            <a:off x="916099" y="13498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Backup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B0E78B7-8D7B-0B62-4F3E-C70BEC20E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50" y="1229812"/>
            <a:ext cx="7150100" cy="535513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DEECF74-53E0-2867-5F78-20B11D4BB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250" y="134984"/>
            <a:ext cx="6527800" cy="132497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6BD6925-6757-769F-E775-3D92C84701F0}"/>
              </a:ext>
            </a:extLst>
          </p:cNvPr>
          <p:cNvSpPr txBox="1"/>
          <p:nvPr/>
        </p:nvSpPr>
        <p:spPr>
          <a:xfrm>
            <a:off x="7651750" y="1576169"/>
            <a:ext cx="4249881" cy="16775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整体</a:t>
            </a:r>
            <a:r>
              <a:rPr lang="en-US" altLang="zh-CN" dirty="0"/>
              <a:t>MRR</a:t>
            </a:r>
            <a:r>
              <a:rPr lang="zh-CN" altLang="en-US" dirty="0"/>
              <a:t>反演结果跟</a:t>
            </a:r>
            <a:r>
              <a:rPr lang="en-US" altLang="zh-CN" dirty="0" err="1"/>
              <a:t>Disdrometer</a:t>
            </a:r>
            <a:r>
              <a:rPr lang="zh-CN" altLang="en-US" dirty="0"/>
              <a:t>一致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MRR</a:t>
            </a:r>
            <a:r>
              <a:rPr lang="zh-CN" altLang="en-US" dirty="0"/>
              <a:t>小粒径雨滴偏多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MRR</a:t>
            </a:r>
            <a:r>
              <a:rPr lang="zh-CN" altLang="en-US" dirty="0"/>
              <a:t>大粒径偏少</a:t>
            </a:r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40E9A0AB-E6BC-BE38-88BF-DA9B9D64B2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908"/>
          <a:stretch/>
        </p:blipFill>
        <p:spPr bwMode="auto">
          <a:xfrm>
            <a:off x="7773265" y="4230405"/>
            <a:ext cx="4006850" cy="1579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6116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24633C-AC1F-18F4-99C8-C31091712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7625"/>
            <a:ext cx="10515600" cy="1325563"/>
          </a:xfrm>
        </p:spPr>
        <p:txBody>
          <a:bodyPr/>
          <a:lstStyle/>
          <a:p>
            <a:r>
              <a:rPr lang="en-US" altLang="zh-CN" dirty="0"/>
              <a:t>Mie Scattering Code Validation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CE4722F-44DF-5E27-6364-47D3CF502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181" y="1896162"/>
            <a:ext cx="4112939" cy="397155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F06D64B-135B-3864-2C4B-FE6D29DFC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987" y="1407536"/>
            <a:ext cx="7071494" cy="4948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836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24633C-AC1F-18F4-99C8-C31091712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7625"/>
            <a:ext cx="10515600" cy="1325563"/>
          </a:xfrm>
        </p:spPr>
        <p:txBody>
          <a:bodyPr/>
          <a:lstStyle/>
          <a:p>
            <a:r>
              <a:rPr lang="en-US" altLang="zh-CN" dirty="0"/>
              <a:t>Mie Scattering Code Validation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CE4722F-44DF-5E27-6364-47D3CF502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181" y="1896162"/>
            <a:ext cx="4112939" cy="397155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F06D64B-135B-3864-2C4B-FE6D29DFC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987" y="1407536"/>
            <a:ext cx="7071494" cy="4948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206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BD7D67-9BAE-F393-ABFB-E841880A6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CN" dirty="0"/>
              <a:t>Validation of Mie Scattering Code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7F1A92B-A414-1880-61FE-F31A2A429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422" y="3697677"/>
            <a:ext cx="3165103" cy="291902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7CA764D-C579-F859-DCBE-FC0A49FA3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669" y="1119188"/>
            <a:ext cx="3048053" cy="247880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E031D64-AC9D-0E1E-8019-76A127F39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2169" y="1167401"/>
            <a:ext cx="3048053" cy="243059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4DBF707-3E6B-B6CB-E241-A54676C3D4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7309" y="1683348"/>
            <a:ext cx="3279441" cy="99783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990E560-29E3-4C31-2201-1B77919FBE56}"/>
              </a:ext>
            </a:extLst>
          </p:cNvPr>
          <p:cNvSpPr txBox="1"/>
          <p:nvPr/>
        </p:nvSpPr>
        <p:spPr>
          <a:xfrm>
            <a:off x="7687901" y="2775184"/>
            <a:ext cx="14991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/>
              <a:t>(O’Connor. et al, 2005)</a:t>
            </a:r>
            <a:endParaRPr lang="zh-CN" altLang="en-US" sz="1000" b="1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0972187-A4E8-7412-289C-E8FFE9E761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0722" y="3818290"/>
            <a:ext cx="3301593" cy="279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981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836DD7-0080-8D2B-7596-1772DA5B0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0" y="0"/>
            <a:ext cx="10515600" cy="1325563"/>
          </a:xfrm>
        </p:spPr>
        <p:txBody>
          <a:bodyPr/>
          <a:lstStyle/>
          <a:p>
            <a:r>
              <a:rPr lang="en-US" altLang="zh-CN" dirty="0"/>
              <a:t>Impacts of small</a:t>
            </a:r>
            <a:r>
              <a:rPr lang="zh-CN" altLang="en-US" dirty="0"/>
              <a:t> </a:t>
            </a:r>
            <a:r>
              <a:rPr lang="en-US" altLang="zh-CN" dirty="0"/>
              <a:t>droplets</a:t>
            </a:r>
            <a:endParaRPr lang="zh-CN" altLang="en-US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AB6A47AF-A5C6-FA1A-87D8-1DCC385F06B9}"/>
              </a:ext>
            </a:extLst>
          </p:cNvPr>
          <p:cNvGrpSpPr/>
          <p:nvPr/>
        </p:nvGrpSpPr>
        <p:grpSpPr>
          <a:xfrm>
            <a:off x="923924" y="1518833"/>
            <a:ext cx="5339945" cy="2509088"/>
            <a:chOff x="705255" y="1944283"/>
            <a:chExt cx="5339945" cy="2509088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1204980-0065-D415-31BB-13BD6557DB74}"/>
                </a:ext>
              </a:extLst>
            </p:cNvPr>
            <p:cNvSpPr txBox="1"/>
            <p:nvPr/>
          </p:nvSpPr>
          <p:spPr>
            <a:xfrm>
              <a:off x="3924552" y="4176372"/>
              <a:ext cx="195277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With more small droplets</a:t>
              </a:r>
              <a:endParaRPr lang="zh-CN" altLang="en-US" sz="1200" b="1" dirty="0"/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1D4B5E13-03B5-19A5-AED7-F585686AC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5255" y="2173720"/>
              <a:ext cx="5339945" cy="2029803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A3C59DE-BDBE-945D-171C-9CED0B034B45}"/>
                </a:ext>
              </a:extLst>
            </p:cNvPr>
            <p:cNvSpPr txBox="1"/>
            <p:nvPr/>
          </p:nvSpPr>
          <p:spPr>
            <a:xfrm>
              <a:off x="3773424" y="1944283"/>
              <a:ext cx="22717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With measured small droplets</a:t>
              </a:r>
              <a:endParaRPr lang="zh-CN" altLang="en-US" sz="1200" b="1" dirty="0"/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A85D056B-28A3-1BE8-D785-56E6A6330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4" y="4000769"/>
            <a:ext cx="5339945" cy="206707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E4F367F-34B4-19A2-3615-31822A567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6469" y="1668243"/>
            <a:ext cx="3401631" cy="176715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4E1754E-229B-D2DC-56A0-75A2D1AF94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6469" y="3778073"/>
            <a:ext cx="2209992" cy="2209992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02387F49-3FD4-2ADC-D0FD-EA16D382E578}"/>
              </a:ext>
            </a:extLst>
          </p:cNvPr>
          <p:cNvSpPr txBox="1"/>
          <p:nvPr/>
        </p:nvSpPr>
        <p:spPr>
          <a:xfrm>
            <a:off x="1208589" y="6210761"/>
            <a:ext cx="9876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小雨滴影响较小，小雨滴在低空的退偏信号峰值主要在</a:t>
            </a:r>
            <a:r>
              <a:rPr lang="en-US" altLang="zh-CN" dirty="0"/>
              <a:t>300</a:t>
            </a:r>
            <a:r>
              <a:rPr lang="zh-CN" altLang="en-US" dirty="0"/>
              <a:t>米以下，对</a:t>
            </a:r>
            <a:r>
              <a:rPr lang="en-US" altLang="zh-CN" dirty="0"/>
              <a:t>500-700</a:t>
            </a:r>
            <a:r>
              <a:rPr lang="zh-CN" altLang="en-US" dirty="0"/>
              <a:t>退偏峰值贡献小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418BCE5-9213-6837-5D67-3B33ADDDAE35}"/>
              </a:ext>
            </a:extLst>
          </p:cNvPr>
          <p:cNvSpPr/>
          <p:nvPr/>
        </p:nvSpPr>
        <p:spPr>
          <a:xfrm>
            <a:off x="3652495" y="1512106"/>
            <a:ext cx="2677471" cy="453193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002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4526</TotalTime>
  <Words>529</Words>
  <Application>Microsoft Office PowerPoint</Application>
  <PresentationFormat>宽屏</PresentationFormat>
  <Paragraphs>119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等线</vt:lpstr>
      <vt:lpstr>等线 Light</vt:lpstr>
      <vt:lpstr>Arial</vt:lpstr>
      <vt:lpstr>Segoe UI</vt:lpstr>
      <vt:lpstr>Wingdings</vt:lpstr>
      <vt:lpstr>Office 主题​​</vt:lpstr>
      <vt:lpstr>Polarimetry by single water droplet</vt:lpstr>
      <vt:lpstr>Polarimetry by single water droplet</vt:lpstr>
      <vt:lpstr>PowerPoint 演示文稿</vt:lpstr>
      <vt:lpstr>PowerPoint 演示文稿</vt:lpstr>
      <vt:lpstr>Polarimetry by single water droplet</vt:lpstr>
      <vt:lpstr>PowerPoint 演示文稿</vt:lpstr>
      <vt:lpstr>PowerPoint 演示文稿</vt:lpstr>
      <vt:lpstr>Polarimetry by water droplets with similar size distribution</vt:lpstr>
      <vt:lpstr>Polarimetry by water droplets with similar size distribution</vt:lpstr>
      <vt:lpstr>Polarimetry by water droplets with similar size distribution</vt:lpstr>
      <vt:lpstr>Polarimetry by water droplets with similar size distribution</vt:lpstr>
      <vt:lpstr>Wavelength Dependent Polarimetry</vt:lpstr>
      <vt:lpstr>Scattering by water droplets at VIS band</vt:lpstr>
      <vt:lpstr>Polarimetry by polydisperse water droplets</vt:lpstr>
      <vt:lpstr>Polarimetry by polydisperse water droplets</vt:lpstr>
      <vt:lpstr>Polarimetry by polydisperse water droplets</vt:lpstr>
      <vt:lpstr>PowerPoint 演示文稿</vt:lpstr>
      <vt:lpstr>Mie Scattering Code Validation</vt:lpstr>
      <vt:lpstr>Mie Scattering Code Validation</vt:lpstr>
      <vt:lpstr>Validation of Mie Scattering Code</vt:lpstr>
      <vt:lpstr>Impacts of small droplets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Polarimetry by single water droplet</dc:title>
  <dc:creator>Zhenping Yin</dc:creator>
  <cp:lastModifiedBy>Zhenping Yin</cp:lastModifiedBy>
  <cp:revision>88</cp:revision>
  <dcterms:created xsi:type="dcterms:W3CDTF">2023-10-16T04:52:27Z</dcterms:created>
  <dcterms:modified xsi:type="dcterms:W3CDTF">2023-11-02T05:16:00Z</dcterms:modified>
</cp:coreProperties>
</file>